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introducing SupplyMind AI - a tool we've been building that helps a supply chain team catch problems (like a product about to run out of stock, or a supplier that keeps delivering late) before they turn into a crisis. I'm assuming zero prior knowledge here - by the end of this you'll know exactly what it does, how it works, and what it looks like day to day. We'll walk through the app screen by screen, using real screenshots, not mockups.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problem, because the app only makes sense once you see the gap it fills. Right now, most supply chain problems are found the hard way - after a shelf is empty, after a customer complains, after a shipment is already late. The data to catch these things earlier usually already exists - it's sitting in spreadsheets, a database, or a handful of reports - but nobody has time to check it constantly, and turning raw numbers into a clear 'is this okay or not' answer takes real analysis work. That gap - data exists, but nobody's watching it continuously - is exactly what SupplyMind AI closes.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pitch in one sentence: you connect your data once, and from then on the system continuously checks it and tells you, in plain language, what's fine and what needs your attention. Three things make this different from 'just another dashboard.' First, it does the interpreting for you - instead of a wall of numbers, you get a sentence like 'stockout risk is low, no action needed.' Second, it's honest about uncertainty - every answer comes with a confidence score, so you always know how much to trust it, instead of a chart that looks equally confident whether it's right or wrong. And third, it's a conversation, not a static report - you can ask follow-up questions in plain English, and you can test a hypothetical change - like 'what if demand jumps 20%' - before it's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flow is three steps. Step one: you connect your data - that could be a live database, an uploaded spreadsheet, or a Google Sheet - and you do that once. Step two, behind the scenes, a team of specialist AI agents each check one thing - one looks at demand patterns, one at stockout risk, one at supplier reliability, one at shipment delays, one at data quality - and each one reports back with a confidence score, not just a raw number. Step three, you get the results in plain English - you can glance at a one-page dashboard, ask a direct question like you're texting a colleague, or test a hypothetical scenario before you commit to a real decision. No technical setup, no query language to learn.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very first screen anyone sees: the Data Console. This is where you connect your data - three options, a live database, a CSV or zip file upload, or a public Google Sheet link - and you only have to do it once. Then you map your columns to the three things the system needs: Customer Orders, Inventory, and Delivery Records - and it doesn't matter if your column names are different from ours, you just point at them. Two things worth calling out for anyone nervous about a new tool touching their data: this page is strictly read-only, it never modifies or moves anything, and every preview is capped at 15 rows so it's never going to try to pull your entire database into memory.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dashboard - we call it the Executive Control Tower, because it's meant to be the one page a busy executive checks each morning. Every area of the supply chain gets its own card - demand, stockout risk, suppliers, shipments, data quality - and each card gives you a one-line takeaway plus a color: green for fine, amber for worth a look, red for critical. You don't have to read anything to know where to focus. Notice the top-level numbers too - overall status, critical findings, high findings - all summarized before you scroll an inch. And this 'Confidence by area' chart is something most dashboards don't have: it tells you how much to trust each individual finding, not just what the finding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one-line summary isn't enough, every card has a 'Show details' toggle that expands into the full technical reasoning - the actual numbers, the actual thresholds, why the system reached that conclusion. This is a deliberate design choice: the app never asks you to just trust a black box. One detail I'll point out because it took real work: the important numbers - confidence, risk score, stockout probability - aren't just highlighted in one flat color anymore. They're colored based on their own value, so a risk score of 8 shows as neutral gray and a risk score of 65 shows as red, using the exact same thresholds the system uses internally to classify severity - so the color can never disagree with the words next to it. And every finding has Approve and Reject buttons, because a human always stays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 Assistant - think of it as texting a very well-informed colleague who has read every report. You type a plain-English question, like 'what's our stockout risk,' and it answers directly, with the specific SKUs, the specific numbers, and a small chart when that helps. If you're not sure what to ask, there are example questions right there to get started. And just like the dashboard, it never hides its confidence - you can see right there 'confidence 33%,' so you know this is a lower-confidence read and maybe worth a second look, versus a 90%+ answer you can act on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What-If Simulator, and it's probably the most fun screen to demo. It starts from your real, current numbers for a SKU - stock on hand, safety stock, demand rate, lead time - and then lets you change one or more assumptions: what if demand jumps 20%, what if the lead time grows by 3 days. Click Run Simulation, and it shows you baseline risk versus projected risk side by side, plus a plain-English recommendation - here it says 'monitor and confirm the next reorder is timed correctly.' Nothing here is real or committed - it's a sandbox for testing ideas before you act on them for real. This is how a team moves from reacting to problems to actually planning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screen: the Glossary. Every technical term used anywhere in the app - confidence, risk score, z-score, safety stock, lead time - gets its own plain-language card here, with a small interactive picture, like a slider you can drag yourself to build intuition for what a 'high' or 'low' value actually looks like. This matters because the app is meant for people who don't have a data science background. And it's not a separate, disconnected reference - the same one-sentence definition you see here is exactly what pops up if you hover over that term anywhere else in the app, so there's never a mismatch between what a tooltip says and what this page says.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worth showing: what a brand-new user sees the very first time they open the app, on any browser, on any of the five screens. A short three-step overlay - connect your data, run analysis, ask questions and test scenarios - orients them in a few seconds. It only shows once, ever, per browser, so it never becomes an annoyance for people who already know their way around. This is a small thing, but it reflects the overall design philosophy: don't assume the person in front of the screen already knows how any of this 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look under the hood, kept deliberately non-technical. There isn't one giant AI trying to do everything - there are six specialist agents, each responsible for exactly one question: demand forecasting, stockout risk, risk detection, supplier evaluation, shipment delay analysis, and data quality monitoring. An Orchestrator Agent sits above all of them, coordinates them, and - this is the important part - cross-checks their answers against each other. If two agents look at the same underlying data and reach very different conclusions, the system doesn't just quietly pick one - it lowers its confidence and tells you it's unsure. That's a deliberate safety design: production systems need to be predictable, so the AI's job here is to reason and flag things, never to silently guess.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this actually stand today? Everything in this deck is real - every screenshot you saw is the actual running app, not a mockup or a prototype rendering. Right now it runs locally, meaning one command starts the whole thing on a single machine - it hasn't been deployed anywhere shared yet. It's also tested seriously: over eleven hundred automated tests pass across the codebase today, and the team's own working discipline is to build a feature, then deliberately try to break it with bad inputs and edge cases, then harden it - not just build something once and call it done. What's next is straightforward: get it deployed somewhere the whole team can reach without running it locally, connect it to a real live data source instead of demo data, expand what the AI Assistant can answer, and then get real feedback from people using it day to 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tour. To recap in one breath: SupplyMind AI connects to your data once, has a team of specialist AI agents continuously check it, and gives you plain-English answers - on a one-page dashboard, through a chat-style assistant, or by letting you test decisions before you make them - and it never hides how confident it is. Happy to take questions, or if it's useful, I can pull up any of the five screens live and click around instead of just showing static screenshots.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18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3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34840"/>
            <a:ext cx="12191695"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515600" cy="457200"/>
          </a:xfrm>
          <a:prstGeom prst="rect">
            <a:avLst/>
          </a:prstGeom>
          <a:noFill/>
        </p:spPr>
        <p:txBody>
          <a:bodyPr wrap="square" anchor="t" lIns="0" rIns="0" tIns="0" bIns="0">
            <a:spAutoFit/>
          </a:bodyPr>
          <a:lstStyle/>
          <a:p>
            <a:pPr algn="l">
              <a:lnSpc>
                <a:spcPct val="100000"/>
              </a:lnSpc>
            </a:pPr>
            <a:r>
              <a:rPr sz="2000" b="1" i="0">
                <a:solidFill>
                  <a:srgbClr val="9DB6F7"/>
                </a:solidFill>
                <a:latin typeface="Calibri"/>
              </a:rPr>
              <a:t>SUPPLYMIND AI</a:t>
            </a:r>
          </a:p>
        </p:txBody>
      </p:sp>
      <p:sp>
        <p:nvSpPr>
          <p:cNvPr id="5" name="TextBox 4"/>
          <p:cNvSpPr txBox="1"/>
          <p:nvPr/>
        </p:nvSpPr>
        <p:spPr>
          <a:xfrm>
            <a:off x="822960" y="2788920"/>
            <a:ext cx="10515600" cy="1188720"/>
          </a:xfrm>
          <a:prstGeom prst="rect">
            <a:avLst/>
          </a:prstGeom>
          <a:noFill/>
        </p:spPr>
        <p:txBody>
          <a:bodyPr wrap="square" anchor="t" lIns="0" rIns="0" tIns="0" bIns="0">
            <a:spAutoFit/>
          </a:bodyPr>
          <a:lstStyle/>
          <a:p>
            <a:pPr algn="l">
              <a:lnSpc>
                <a:spcPct val="105000"/>
              </a:lnSpc>
            </a:pPr>
            <a:r>
              <a:rPr sz="4400" b="1" i="0">
                <a:solidFill>
                  <a:srgbClr val="FFFFFF"/>
                </a:solidFill>
                <a:latin typeface="Calibri"/>
              </a:rPr>
              <a:t>An AI co-pilot for your</a:t>
            </a:r>
          </a:p>
          <a:p>
            <a:pPr algn="l">
              <a:lnSpc>
                <a:spcPct val="105000"/>
              </a:lnSpc>
            </a:pPr>
            <a:r>
              <a:rPr sz="4400" b="1" i="0">
                <a:solidFill>
                  <a:srgbClr val="FFFFFF"/>
                </a:solidFill>
                <a:latin typeface="Calibri"/>
              </a:rPr>
              <a:t>supply chain</a:t>
            </a:r>
          </a:p>
        </p:txBody>
      </p:sp>
      <p:sp>
        <p:nvSpPr>
          <p:cNvPr id="6" name="TextBox 5"/>
          <p:cNvSpPr txBox="1"/>
          <p:nvPr/>
        </p:nvSpPr>
        <p:spPr>
          <a:xfrm>
            <a:off x="822960" y="4617720"/>
            <a:ext cx="10515600" cy="548640"/>
          </a:xfrm>
          <a:prstGeom prst="rect">
            <a:avLst/>
          </a:prstGeom>
          <a:noFill/>
        </p:spPr>
        <p:txBody>
          <a:bodyPr wrap="square" anchor="t" lIns="0" rIns="0" tIns="0" bIns="0">
            <a:spAutoFit/>
          </a:bodyPr>
          <a:lstStyle/>
          <a:p>
            <a:pPr algn="l">
              <a:lnSpc>
                <a:spcPct val="100000"/>
              </a:lnSpc>
            </a:pPr>
            <a:r>
              <a:rPr sz="1800" b="0" i="0">
                <a:solidFill>
                  <a:srgbClr val="C3CCE0"/>
                </a:solidFill>
                <a:latin typeface="Calibri"/>
              </a:rPr>
              <a:t>Introducing the app: what it does, how it works, and what it looks like</a:t>
            </a:r>
          </a:p>
        </p:txBody>
      </p:sp>
      <p:sp>
        <p:nvSpPr>
          <p:cNvPr id="7" name="TextBox 6"/>
          <p:cNvSpPr txBox="1"/>
          <p:nvPr/>
        </p:nvSpPr>
        <p:spPr>
          <a:xfrm>
            <a:off x="822960" y="6263640"/>
            <a:ext cx="7315200" cy="365760"/>
          </a:xfrm>
          <a:prstGeom prst="rect">
            <a:avLst/>
          </a:prstGeom>
          <a:noFill/>
        </p:spPr>
        <p:txBody>
          <a:bodyPr wrap="square" anchor="t" lIns="0" rIns="0" tIns="0" bIns="0">
            <a:spAutoFit/>
          </a:bodyPr>
          <a:lstStyle/>
          <a:p>
            <a:pPr algn="l">
              <a:lnSpc>
                <a:spcPct val="100000"/>
              </a:lnSpc>
            </a:pPr>
            <a:r>
              <a:rPr sz="1200" b="0" i="0">
                <a:solidFill>
                  <a:srgbClr val="8A94B0"/>
                </a:solidFill>
                <a:latin typeface="Calibri"/>
              </a:rPr>
              <a:t>Prepared for a first-time audience  ·  No prior knowledge assumed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WHY THIS EXISTS</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Supply chain problems are usually found too late</a:t>
            </a:r>
          </a:p>
        </p:txBody>
      </p:sp>
      <p:sp>
        <p:nvSpPr>
          <p:cNvPr id="5" name="TextBox 4"/>
          <p:cNvSpPr txBox="1"/>
          <p:nvPr/>
        </p:nvSpPr>
        <p:spPr>
          <a:xfrm>
            <a:off x="548640" y="1600200"/>
            <a:ext cx="5486400" cy="4206240"/>
          </a:xfrm>
          <a:prstGeom prst="rect">
            <a:avLst/>
          </a:prstGeom>
          <a:noFill/>
        </p:spPr>
        <p:txBody>
          <a:bodyPr wrap="square" lIns="0" rIns="0" tIns="0" bIns="0">
            <a:spAutoFit/>
          </a:bodyPr>
          <a:lstStyle/>
          <a:p>
            <a:pPr>
              <a:lnSpc>
                <a:spcPct val="112000"/>
              </a:lnSpc>
              <a:spcAft>
                <a:spcPts val="1800"/>
              </a:spcAft>
            </a:pPr>
            <a:r>
              <a:rPr sz="1700">
                <a:solidFill>
                  <a:srgbClr val="1D4ED8"/>
                </a:solidFill>
                <a:latin typeface="Calibri"/>
              </a:rPr>
              <a:t>●  </a:t>
            </a:r>
            <a:r>
              <a:rPr sz="1700" b="1">
                <a:solidFill>
                  <a:srgbClr val="131826"/>
                </a:solidFill>
                <a:latin typeface="Calibri"/>
              </a:rPr>
              <a:t>Stockouts surprise people. </a:t>
            </a:r>
            <a:r>
              <a:rPr sz="1700">
                <a:solidFill>
                  <a:srgbClr val="4A5468"/>
                </a:solidFill>
                <a:latin typeface="Calibri"/>
              </a:rPr>
              <a:t>A product runs out before anyone notices demand had picked up.</a:t>
            </a:r>
          </a:p>
          <a:p>
            <a:pPr>
              <a:lnSpc>
                <a:spcPct val="112000"/>
              </a:lnSpc>
              <a:spcAft>
                <a:spcPts val="1800"/>
              </a:spcAft>
            </a:pPr>
            <a:r>
              <a:rPr sz="1700">
                <a:solidFill>
                  <a:srgbClr val="1D4ED8"/>
                </a:solidFill>
                <a:latin typeface="Calibri"/>
              </a:rPr>
              <a:t>●  </a:t>
            </a:r>
            <a:r>
              <a:rPr sz="1700" b="1">
                <a:solidFill>
                  <a:srgbClr val="131826"/>
                </a:solidFill>
                <a:latin typeface="Calibri"/>
              </a:rPr>
              <a:t>Supplier issues hide in spreadsheets. </a:t>
            </a:r>
            <a:r>
              <a:rPr sz="1700">
                <a:solidFill>
                  <a:srgbClr val="4A5468"/>
                </a:solidFill>
                <a:latin typeface="Calibri"/>
              </a:rPr>
              <a:t>A supplier that's slowly getting less reliable rarely trips an alarm.</a:t>
            </a:r>
          </a:p>
          <a:p>
            <a:pPr>
              <a:lnSpc>
                <a:spcPct val="112000"/>
              </a:lnSpc>
              <a:spcAft>
                <a:spcPts val="1800"/>
              </a:spcAft>
            </a:pPr>
            <a:r>
              <a:rPr sz="1700">
                <a:solidFill>
                  <a:srgbClr val="1D4ED8"/>
                </a:solidFill>
                <a:latin typeface="Calibri"/>
              </a:rPr>
              <a:t>●  </a:t>
            </a:r>
            <a:r>
              <a:rPr sz="1700" b="1">
                <a:solidFill>
                  <a:srgbClr val="131826"/>
                </a:solidFill>
                <a:latin typeface="Calibri"/>
              </a:rPr>
              <a:t>Answers take too long. </a:t>
            </a:r>
            <a:r>
              <a:rPr sz="1700">
                <a:solidFill>
                  <a:srgbClr val="4A5468"/>
                </a:solidFill>
                <a:latin typeface="Calibri"/>
              </a:rPr>
              <a:t>“What's our risk right now?” often means pulling three reports and waiting a day.</a:t>
            </a:r>
          </a:p>
          <a:p>
            <a:pPr>
              <a:lnSpc>
                <a:spcPct val="112000"/>
              </a:lnSpc>
              <a:spcAft>
                <a:spcPts val="1800"/>
              </a:spcAft>
            </a:pPr>
            <a:r>
              <a:rPr sz="1700">
                <a:solidFill>
                  <a:srgbClr val="1D4ED8"/>
                </a:solidFill>
                <a:latin typeface="Calibri"/>
              </a:rPr>
              <a:t>●  </a:t>
            </a:r>
            <a:r>
              <a:rPr sz="1700" b="1">
                <a:solidFill>
                  <a:srgbClr val="131826"/>
                </a:solidFill>
                <a:latin typeface="Calibri"/>
              </a:rPr>
              <a:t>Decisions are made on gut feel. </a:t>
            </a:r>
            <a:r>
              <a:rPr sz="1700">
                <a:solidFill>
                  <a:srgbClr val="4A5468"/>
                </a:solidFill>
                <a:latin typeface="Calibri"/>
              </a:rPr>
              <a:t>Without a fast way to test “what if,” teams either move too slowly or guess.</a:t>
            </a:r>
          </a:p>
        </p:txBody>
      </p:sp>
      <p:sp>
        <p:nvSpPr>
          <p:cNvPr id="6" name="Rectangle 5"/>
          <p:cNvSpPr/>
          <p:nvPr/>
        </p:nvSpPr>
        <p:spPr>
          <a:xfrm>
            <a:off x="6400800" y="1600200"/>
            <a:ext cx="5257800" cy="420624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1874519"/>
            <a:ext cx="4663440" cy="365760"/>
          </a:xfrm>
          <a:prstGeom prst="rect">
            <a:avLst/>
          </a:prstGeom>
          <a:noFill/>
        </p:spPr>
        <p:txBody>
          <a:bodyPr wrap="square" anchor="t" lIns="0" rIns="0" tIns="0" bIns="0">
            <a:spAutoFit/>
          </a:bodyPr>
          <a:lstStyle/>
          <a:p>
            <a:pPr algn="l">
              <a:lnSpc>
                <a:spcPct val="100000"/>
              </a:lnSpc>
            </a:pPr>
            <a:r>
              <a:rPr sz="1300" b="1" i="0">
                <a:solidFill>
                  <a:srgbClr val="1638A6"/>
                </a:solidFill>
                <a:latin typeface="Calibri"/>
              </a:rPr>
              <a:t>THE COST OF FINDING OUT LATE</a:t>
            </a:r>
          </a:p>
        </p:txBody>
      </p:sp>
      <p:sp>
        <p:nvSpPr>
          <p:cNvPr id="8" name="TextBox 7"/>
          <p:cNvSpPr txBox="1"/>
          <p:nvPr/>
        </p:nvSpPr>
        <p:spPr>
          <a:xfrm>
            <a:off x="6720840" y="2331720"/>
            <a:ext cx="4663440" cy="3291840"/>
          </a:xfrm>
          <a:prstGeom prst="rect">
            <a:avLst/>
          </a:prstGeom>
          <a:noFill/>
        </p:spPr>
        <p:txBody>
          <a:bodyPr wrap="square" lIns="0" rIns="0" tIns="0" bIns="0">
            <a:spAutoFit/>
          </a:bodyPr>
          <a:lstStyle/>
          <a:p>
            <a:pPr>
              <a:lnSpc>
                <a:spcPct val="112000"/>
              </a:lnSpc>
              <a:spcAft>
                <a:spcPts val="1400"/>
              </a:spcAft>
            </a:pPr>
            <a:r>
              <a:rPr sz="1600">
                <a:solidFill>
                  <a:srgbClr val="1638A6"/>
                </a:solidFill>
                <a:latin typeface="Calibri"/>
              </a:rPr>
              <a:t>●  </a:t>
            </a:r>
            <a:r>
              <a:rPr sz="1600">
                <a:solidFill>
                  <a:srgbClr val="4A5468"/>
                </a:solidFill>
                <a:latin typeface="Calibri"/>
              </a:rPr>
              <a:t>Emergency orders at a premium price</a:t>
            </a:r>
          </a:p>
          <a:p>
            <a:pPr>
              <a:lnSpc>
                <a:spcPct val="112000"/>
              </a:lnSpc>
              <a:spcAft>
                <a:spcPts val="1400"/>
              </a:spcAft>
            </a:pPr>
            <a:r>
              <a:rPr sz="1600">
                <a:solidFill>
                  <a:srgbClr val="1638A6"/>
                </a:solidFill>
                <a:latin typeface="Calibri"/>
              </a:rPr>
              <a:t>●  </a:t>
            </a:r>
            <a:r>
              <a:rPr sz="1600">
                <a:solidFill>
                  <a:srgbClr val="4A5468"/>
                </a:solidFill>
                <a:latin typeface="Calibri"/>
              </a:rPr>
              <a:t>Missed customer commitments</a:t>
            </a:r>
          </a:p>
          <a:p>
            <a:pPr>
              <a:lnSpc>
                <a:spcPct val="112000"/>
              </a:lnSpc>
              <a:spcAft>
                <a:spcPts val="1400"/>
              </a:spcAft>
            </a:pPr>
            <a:r>
              <a:rPr sz="1600">
                <a:solidFill>
                  <a:srgbClr val="1638A6"/>
                </a:solidFill>
                <a:latin typeface="Calibri"/>
              </a:rPr>
              <a:t>●  </a:t>
            </a:r>
            <a:r>
              <a:rPr sz="1600">
                <a:solidFill>
                  <a:srgbClr val="4A5468"/>
                </a:solidFill>
                <a:latin typeface="Calibri"/>
              </a:rPr>
              <a:t>Firefighting instead of planning</a:t>
            </a:r>
          </a:p>
          <a:p>
            <a:pPr>
              <a:lnSpc>
                <a:spcPct val="112000"/>
              </a:lnSpc>
              <a:spcAft>
                <a:spcPts val="1400"/>
              </a:spcAft>
            </a:pPr>
            <a:r>
              <a:rPr sz="1600">
                <a:solidFill>
                  <a:srgbClr val="1638A6"/>
                </a:solidFill>
                <a:latin typeface="Calibri"/>
              </a:rPr>
              <a:t>●  </a:t>
            </a:r>
            <a:r>
              <a:rPr sz="1600">
                <a:solidFill>
                  <a:srgbClr val="4A5468"/>
                </a:solidFill>
                <a:latin typeface="Calibri"/>
              </a:rPr>
              <a:t>Risk that's invisible until it's a crisis</a:t>
            </a:r>
          </a:p>
        </p:txBody>
      </p:sp>
      <p:sp>
        <p:nvSpPr>
          <p:cNvPr id="9" name="Rectangle 8"/>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1" name="TextBox 10"/>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IN ONE SENTENCE</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A tool that watches your supply chain data and tells you, in plain English, what needs attention</a:t>
            </a:r>
          </a:p>
        </p:txBody>
      </p:sp>
      <p:sp>
        <p:nvSpPr>
          <p:cNvPr id="5" name="Rectangle 4"/>
          <p:cNvSpPr/>
          <p:nvPr/>
        </p:nvSpPr>
        <p:spPr>
          <a:xfrm>
            <a:off x="548640" y="1874519"/>
            <a:ext cx="11064240" cy="146304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84831"/>
            <a:ext cx="10332720" cy="1097280"/>
          </a:xfrm>
          <a:prstGeom prst="rect">
            <a:avLst/>
          </a:prstGeom>
          <a:noFill/>
        </p:spPr>
        <p:txBody>
          <a:bodyPr wrap="square" anchor="t" lIns="0" rIns="0" tIns="0" bIns="0">
            <a:spAutoFit/>
          </a:bodyPr>
          <a:lstStyle/>
          <a:p>
            <a:pPr algn="l">
              <a:lnSpc>
                <a:spcPct val="120000"/>
              </a:lnSpc>
            </a:pPr>
            <a:r>
              <a:rPr sz="2000" b="0" i="1">
                <a:solidFill>
                  <a:srgbClr val="1638A6"/>
                </a:solidFill>
                <a:latin typeface="Calibri"/>
              </a:rPr>
              <a:t>“Connect your data once. SupplyMind AI checks it continuously, in plain</a:t>
            </a:r>
          </a:p>
          <a:p>
            <a:pPr algn="l">
              <a:lnSpc>
                <a:spcPct val="120000"/>
              </a:lnSpc>
            </a:pPr>
            <a:r>
              <a:rPr sz="2000" b="0" i="1">
                <a:solidFill>
                  <a:srgbClr val="1638A6"/>
                </a:solidFill>
                <a:latin typeface="Calibri"/>
              </a:rPr>
              <a:t>language, and lets you ask questions or test decisions before you make them.”</a:t>
            </a:r>
          </a:p>
        </p:txBody>
      </p:sp>
      <p:sp>
        <p:nvSpPr>
          <p:cNvPr id="7" name="TextBox 6"/>
          <p:cNvSpPr txBox="1"/>
          <p:nvPr/>
        </p:nvSpPr>
        <p:spPr>
          <a:xfrm>
            <a:off x="548640" y="3703320"/>
            <a:ext cx="10972800" cy="2377440"/>
          </a:xfrm>
          <a:prstGeom prst="rect">
            <a:avLst/>
          </a:prstGeom>
          <a:noFill/>
        </p:spPr>
        <p:txBody>
          <a:bodyPr wrap="square" lIns="0" rIns="0" tIns="0" bIns="0">
            <a:spAutoFit/>
          </a:bodyPr>
          <a:lstStyle/>
          <a:p>
            <a:pPr>
              <a:lnSpc>
                <a:spcPct val="112000"/>
              </a:lnSpc>
              <a:spcAft>
                <a:spcPts val="1600"/>
              </a:spcAft>
            </a:pPr>
            <a:r>
              <a:rPr sz="1700">
                <a:solidFill>
                  <a:srgbClr val="1D4ED8"/>
                </a:solidFill>
                <a:latin typeface="Calibri"/>
              </a:rPr>
              <a:t>●  </a:t>
            </a:r>
            <a:r>
              <a:rPr sz="1700" b="1">
                <a:solidFill>
                  <a:srgbClr val="131826"/>
                </a:solidFill>
                <a:latin typeface="Calibri"/>
              </a:rPr>
              <a:t>Not a dashboard you have to interpret. </a:t>
            </a:r>
            <a:r>
              <a:rPr sz="1700">
                <a:solidFill>
                  <a:srgbClr val="4A5468"/>
                </a:solidFill>
                <a:latin typeface="Calibri"/>
              </a:rPr>
              <a:t>It already tells you what's fine and what needs a look.</a:t>
            </a:r>
          </a:p>
          <a:p>
            <a:pPr>
              <a:lnSpc>
                <a:spcPct val="112000"/>
              </a:lnSpc>
              <a:spcAft>
                <a:spcPts val="1600"/>
              </a:spcAft>
            </a:pPr>
            <a:r>
              <a:rPr sz="1700">
                <a:solidFill>
                  <a:srgbClr val="1D4ED8"/>
                </a:solidFill>
                <a:latin typeface="Calibri"/>
              </a:rPr>
              <a:t>●  </a:t>
            </a:r>
            <a:r>
              <a:rPr sz="1700" b="1">
                <a:solidFill>
                  <a:srgbClr val="131826"/>
                </a:solidFill>
                <a:latin typeface="Calibri"/>
              </a:rPr>
              <a:t>Not a black box. </a:t>
            </a:r>
            <a:r>
              <a:rPr sz="1700">
                <a:solidFill>
                  <a:srgbClr val="4A5468"/>
                </a:solidFill>
                <a:latin typeface="Calibri"/>
              </a:rPr>
              <a:t>Every answer shows its confidence and the reasoning behind it - never a guess dressed up as fact.</a:t>
            </a:r>
          </a:p>
          <a:p>
            <a:pPr>
              <a:lnSpc>
                <a:spcPct val="112000"/>
              </a:lnSpc>
              <a:spcAft>
                <a:spcPts val="1600"/>
              </a:spcAft>
            </a:pPr>
            <a:r>
              <a:rPr sz="1700">
                <a:solidFill>
                  <a:srgbClr val="1D4ED8"/>
                </a:solidFill>
                <a:latin typeface="Calibri"/>
              </a:rPr>
              <a:t>●  </a:t>
            </a:r>
            <a:r>
              <a:rPr sz="1700" b="1">
                <a:solidFill>
                  <a:srgbClr val="131826"/>
                </a:solidFill>
                <a:latin typeface="Calibri"/>
              </a:rPr>
              <a:t>Not a one-way report. </a:t>
            </a:r>
            <a:r>
              <a:rPr sz="1700">
                <a:solidFill>
                  <a:srgbClr val="4A5468"/>
                </a:solidFill>
                <a:latin typeface="Calibri"/>
              </a:rPr>
              <a:t>You can ask it follow-up questions and test “what if” scenarios before committing to anything real.</a:t>
            </a:r>
          </a:p>
        </p:txBody>
      </p:sp>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HOW IT WORKS</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Three steps, no technical setup required</a:t>
            </a:r>
          </a:p>
        </p:txBody>
      </p:sp>
      <p:sp>
        <p:nvSpPr>
          <p:cNvPr id="5" name="Rectangle 4"/>
          <p:cNvSpPr/>
          <p:nvPr/>
        </p:nvSpPr>
        <p:spPr>
          <a:xfrm>
            <a:off x="548640" y="1828800"/>
            <a:ext cx="3611880" cy="3566160"/>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3611880" cy="7315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148840"/>
            <a:ext cx="548640" cy="5486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latin typeface="Calibri"/>
              </a:rPr>
              <a:t>1</a:t>
            </a:r>
          </a:p>
        </p:txBody>
      </p:sp>
      <p:sp>
        <p:nvSpPr>
          <p:cNvPr id="8" name="TextBox 7"/>
          <p:cNvSpPr txBox="1"/>
          <p:nvPr/>
        </p:nvSpPr>
        <p:spPr>
          <a:xfrm>
            <a:off x="822959" y="2880360"/>
            <a:ext cx="3063240" cy="822960"/>
          </a:xfrm>
          <a:prstGeom prst="rect">
            <a:avLst/>
          </a:prstGeom>
          <a:noFill/>
        </p:spPr>
        <p:txBody>
          <a:bodyPr wrap="square" anchor="t" lIns="0" rIns="0" tIns="0" bIns="0">
            <a:spAutoFit/>
          </a:bodyPr>
          <a:lstStyle/>
          <a:p>
            <a:pPr algn="l">
              <a:lnSpc>
                <a:spcPct val="105000"/>
              </a:lnSpc>
            </a:pPr>
            <a:r>
              <a:rPr sz="1800" b="1" i="0">
                <a:solidFill>
                  <a:srgbClr val="131826"/>
                </a:solidFill>
                <a:latin typeface="Calibri"/>
              </a:rPr>
              <a:t>Connect your data</a:t>
            </a:r>
          </a:p>
        </p:txBody>
      </p:sp>
      <p:sp>
        <p:nvSpPr>
          <p:cNvPr id="9" name="TextBox 8"/>
          <p:cNvSpPr txBox="1"/>
          <p:nvPr/>
        </p:nvSpPr>
        <p:spPr>
          <a:xfrm>
            <a:off x="822959" y="3703320"/>
            <a:ext cx="3063240" cy="1554480"/>
          </a:xfrm>
          <a:prstGeom prst="rect">
            <a:avLst/>
          </a:prstGeom>
          <a:noFill/>
        </p:spPr>
        <p:txBody>
          <a:bodyPr wrap="square" anchor="t" lIns="0" rIns="0" tIns="0" bIns="0">
            <a:spAutoFit/>
          </a:bodyPr>
          <a:lstStyle/>
          <a:p>
            <a:pPr algn="l">
              <a:lnSpc>
                <a:spcPct val="125000"/>
              </a:lnSpc>
            </a:pPr>
            <a:r>
              <a:rPr sz="1350" b="0" i="0">
                <a:solidFill>
                  <a:srgbClr val="4A5468"/>
                </a:solidFill>
                <a:latin typeface="Calibri"/>
              </a:rPr>
              <a:t>A database, a CSV file, or a Google Sheet.</a:t>
            </a:r>
          </a:p>
          <a:p>
            <a:pPr algn="l">
              <a:lnSpc>
                <a:spcPct val="125000"/>
              </a:lnSpc>
            </a:pPr>
            <a:r>
              <a:rPr sz="1350" b="0" i="0">
                <a:solidFill>
                  <a:srgbClr val="4A5468"/>
                </a:solidFill>
                <a:latin typeface="Calibri"/>
              </a:rPr>
              <a:t>Connect once, map it to what the system needs.</a:t>
            </a:r>
          </a:p>
        </p:txBody>
      </p:sp>
      <p:sp>
        <p:nvSpPr>
          <p:cNvPr id="10" name="TextBox 9"/>
          <p:cNvSpPr txBox="1"/>
          <p:nvPr/>
        </p:nvSpPr>
        <p:spPr>
          <a:xfrm>
            <a:off x="4187952" y="3246120"/>
            <a:ext cx="182880" cy="548640"/>
          </a:xfrm>
          <a:prstGeom prst="rect">
            <a:avLst/>
          </a:prstGeom>
          <a:noFill/>
        </p:spPr>
        <p:txBody>
          <a:bodyPr wrap="square" anchor="t" lIns="0" rIns="0" tIns="0" bIns="0">
            <a:spAutoFit/>
          </a:bodyPr>
          <a:lstStyle/>
          <a:p>
            <a:pPr algn="l">
              <a:lnSpc>
                <a:spcPct val="100000"/>
              </a:lnSpc>
            </a:pPr>
            <a:r>
              <a:rPr sz="2600" b="1" i="0">
                <a:solidFill>
                  <a:srgbClr val="1D4ED8"/>
                </a:solidFill>
                <a:latin typeface="Calibri"/>
              </a:rPr>
              <a:t>→</a:t>
            </a:r>
          </a:p>
        </p:txBody>
      </p:sp>
      <p:sp>
        <p:nvSpPr>
          <p:cNvPr id="11" name="Rectangle 10"/>
          <p:cNvSpPr/>
          <p:nvPr/>
        </p:nvSpPr>
        <p:spPr>
          <a:xfrm>
            <a:off x="4389120" y="1828800"/>
            <a:ext cx="3611880" cy="3566160"/>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828800"/>
            <a:ext cx="3611880" cy="7315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3440" y="2148840"/>
            <a:ext cx="548640" cy="5486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latin typeface="Calibri"/>
              </a:rPr>
              <a:t>2</a:t>
            </a:r>
          </a:p>
        </p:txBody>
      </p:sp>
      <p:sp>
        <p:nvSpPr>
          <p:cNvPr id="14" name="TextBox 13"/>
          <p:cNvSpPr txBox="1"/>
          <p:nvPr/>
        </p:nvSpPr>
        <p:spPr>
          <a:xfrm>
            <a:off x="4663440" y="2880360"/>
            <a:ext cx="3063240" cy="822960"/>
          </a:xfrm>
          <a:prstGeom prst="rect">
            <a:avLst/>
          </a:prstGeom>
          <a:noFill/>
        </p:spPr>
        <p:txBody>
          <a:bodyPr wrap="square" anchor="t" lIns="0" rIns="0" tIns="0" bIns="0">
            <a:spAutoFit/>
          </a:bodyPr>
          <a:lstStyle/>
          <a:p>
            <a:pPr algn="l">
              <a:lnSpc>
                <a:spcPct val="105000"/>
              </a:lnSpc>
            </a:pPr>
            <a:r>
              <a:rPr sz="1800" b="1" i="0">
                <a:solidFill>
                  <a:srgbClr val="131826"/>
                </a:solidFill>
                <a:latin typeface="Calibri"/>
              </a:rPr>
              <a:t>Specialist AI agents check it</a:t>
            </a:r>
          </a:p>
        </p:txBody>
      </p:sp>
      <p:sp>
        <p:nvSpPr>
          <p:cNvPr id="15" name="TextBox 14"/>
          <p:cNvSpPr txBox="1"/>
          <p:nvPr/>
        </p:nvSpPr>
        <p:spPr>
          <a:xfrm>
            <a:off x="4663440" y="3703320"/>
            <a:ext cx="3063240" cy="1554480"/>
          </a:xfrm>
          <a:prstGeom prst="rect">
            <a:avLst/>
          </a:prstGeom>
          <a:noFill/>
        </p:spPr>
        <p:txBody>
          <a:bodyPr wrap="square" anchor="t" lIns="0" rIns="0" tIns="0" bIns="0">
            <a:spAutoFit/>
          </a:bodyPr>
          <a:lstStyle/>
          <a:p>
            <a:pPr algn="l">
              <a:lnSpc>
                <a:spcPct val="125000"/>
              </a:lnSpc>
            </a:pPr>
            <a:r>
              <a:rPr sz="1350" b="0" i="0">
                <a:solidFill>
                  <a:srgbClr val="4A5468"/>
                </a:solidFill>
                <a:latin typeface="Calibri"/>
              </a:rPr>
              <a:t>Each one focuses on a single question - demand,</a:t>
            </a:r>
          </a:p>
          <a:p>
            <a:pPr algn="l">
              <a:lnSpc>
                <a:spcPct val="125000"/>
              </a:lnSpc>
            </a:pPr>
            <a:r>
              <a:rPr sz="1350" b="0" i="0">
                <a:solidFill>
                  <a:srgbClr val="4A5468"/>
                </a:solidFill>
                <a:latin typeface="Calibri"/>
              </a:rPr>
              <a:t>stockout risk, suppliers, shipments, data quality -</a:t>
            </a:r>
          </a:p>
          <a:p>
            <a:pPr algn="l">
              <a:lnSpc>
                <a:spcPct val="125000"/>
              </a:lnSpc>
            </a:pPr>
            <a:r>
              <a:rPr sz="1350" b="0" i="0">
                <a:solidFill>
                  <a:srgbClr val="4A5468"/>
                </a:solidFill>
                <a:latin typeface="Calibri"/>
              </a:rPr>
              <a:t>and reports back with a confidence score.</a:t>
            </a:r>
          </a:p>
        </p:txBody>
      </p:sp>
      <p:sp>
        <p:nvSpPr>
          <p:cNvPr id="16" name="TextBox 15"/>
          <p:cNvSpPr txBox="1"/>
          <p:nvPr/>
        </p:nvSpPr>
        <p:spPr>
          <a:xfrm>
            <a:off x="8028431" y="3246120"/>
            <a:ext cx="182880" cy="548640"/>
          </a:xfrm>
          <a:prstGeom prst="rect">
            <a:avLst/>
          </a:prstGeom>
          <a:noFill/>
        </p:spPr>
        <p:txBody>
          <a:bodyPr wrap="square" anchor="t" lIns="0" rIns="0" tIns="0" bIns="0">
            <a:spAutoFit/>
          </a:bodyPr>
          <a:lstStyle/>
          <a:p>
            <a:pPr algn="l">
              <a:lnSpc>
                <a:spcPct val="100000"/>
              </a:lnSpc>
            </a:pPr>
            <a:r>
              <a:rPr sz="2600" b="1" i="0">
                <a:solidFill>
                  <a:srgbClr val="1D4ED8"/>
                </a:solidFill>
                <a:latin typeface="Calibri"/>
              </a:rPr>
              <a:t>→</a:t>
            </a:r>
          </a:p>
        </p:txBody>
      </p:sp>
      <p:sp>
        <p:nvSpPr>
          <p:cNvPr id="17" name="Rectangle 16"/>
          <p:cNvSpPr/>
          <p:nvPr/>
        </p:nvSpPr>
        <p:spPr>
          <a:xfrm>
            <a:off x="8229600" y="1828800"/>
            <a:ext cx="3611880" cy="3566160"/>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828800"/>
            <a:ext cx="3611880" cy="7315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03920" y="2148840"/>
            <a:ext cx="548640" cy="5486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latin typeface="Calibri"/>
              </a:rPr>
              <a:t>3</a:t>
            </a:r>
          </a:p>
        </p:txBody>
      </p:sp>
      <p:sp>
        <p:nvSpPr>
          <p:cNvPr id="20" name="TextBox 19"/>
          <p:cNvSpPr txBox="1"/>
          <p:nvPr/>
        </p:nvSpPr>
        <p:spPr>
          <a:xfrm>
            <a:off x="8503920" y="2880360"/>
            <a:ext cx="3063240" cy="822960"/>
          </a:xfrm>
          <a:prstGeom prst="rect">
            <a:avLst/>
          </a:prstGeom>
          <a:noFill/>
        </p:spPr>
        <p:txBody>
          <a:bodyPr wrap="square" anchor="t" lIns="0" rIns="0" tIns="0" bIns="0">
            <a:spAutoFit/>
          </a:bodyPr>
          <a:lstStyle/>
          <a:p>
            <a:pPr algn="l">
              <a:lnSpc>
                <a:spcPct val="105000"/>
              </a:lnSpc>
            </a:pPr>
            <a:r>
              <a:rPr sz="1800" b="1" i="0">
                <a:solidFill>
                  <a:srgbClr val="131826"/>
                </a:solidFill>
                <a:latin typeface="Calibri"/>
              </a:rPr>
              <a:t>You get plain-English answers</a:t>
            </a:r>
          </a:p>
        </p:txBody>
      </p:sp>
      <p:sp>
        <p:nvSpPr>
          <p:cNvPr id="21" name="TextBox 20"/>
          <p:cNvSpPr txBox="1"/>
          <p:nvPr/>
        </p:nvSpPr>
        <p:spPr>
          <a:xfrm>
            <a:off x="8503920" y="3703320"/>
            <a:ext cx="3063240" cy="1554480"/>
          </a:xfrm>
          <a:prstGeom prst="rect">
            <a:avLst/>
          </a:prstGeom>
          <a:noFill/>
        </p:spPr>
        <p:txBody>
          <a:bodyPr wrap="square" anchor="t" lIns="0" rIns="0" tIns="0" bIns="0">
            <a:spAutoFit/>
          </a:bodyPr>
          <a:lstStyle/>
          <a:p>
            <a:pPr algn="l">
              <a:lnSpc>
                <a:spcPct val="125000"/>
              </a:lnSpc>
            </a:pPr>
            <a:r>
              <a:rPr sz="1350" b="0" i="0">
                <a:solidFill>
                  <a:srgbClr val="4A5468"/>
                </a:solidFill>
                <a:latin typeface="Calibri"/>
              </a:rPr>
              <a:t>One glance at the dashboard, ask a question</a:t>
            </a:r>
          </a:p>
          <a:p>
            <a:pPr algn="l">
              <a:lnSpc>
                <a:spcPct val="125000"/>
              </a:lnSpc>
            </a:pPr>
            <a:r>
              <a:rPr sz="1350" b="0" i="0">
                <a:solidFill>
                  <a:srgbClr val="4A5468"/>
                </a:solidFill>
                <a:latin typeface="Calibri"/>
              </a:rPr>
              <a:t>directly, or test a scenario before you act on it.</a:t>
            </a:r>
          </a:p>
        </p:txBody>
      </p:sp>
      <p:sp>
        <p:nvSpPr>
          <p:cNvPr id="22" name="Rectangle 21"/>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24" name="TextBox 23"/>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1 OF 5 · DATA CONSOLE</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Connect your data once</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Three ways in. </a:t>
            </a:r>
            <a:r>
              <a:rPr sz="1550">
                <a:solidFill>
                  <a:srgbClr val="4A5468"/>
                </a:solidFill>
                <a:latin typeface="Calibri"/>
              </a:rPr>
              <a:t>A live Postgres database, an uploaded CSV/ZIP, or a public Google Sheet.</a:t>
            </a:r>
          </a:p>
          <a:p>
            <a:pPr>
              <a:lnSpc>
                <a:spcPct val="112000"/>
              </a:lnSpc>
              <a:spcAft>
                <a:spcPts val="1400"/>
              </a:spcAft>
            </a:pPr>
            <a:r>
              <a:rPr sz="1550">
                <a:solidFill>
                  <a:srgbClr val="1D4ED8"/>
                </a:solidFill>
                <a:latin typeface="Calibri"/>
              </a:rPr>
              <a:t>●  </a:t>
            </a:r>
            <a:r>
              <a:rPr sz="1550" b="1">
                <a:solidFill>
                  <a:srgbClr val="131826"/>
                </a:solidFill>
                <a:latin typeface="Calibri"/>
              </a:rPr>
              <a:t>You map it once. </a:t>
            </a:r>
            <a:r>
              <a:rPr sz="1550">
                <a:solidFill>
                  <a:srgbClr val="4A5468"/>
                </a:solidFill>
                <a:latin typeface="Calibri"/>
              </a:rPr>
              <a:t>Line up your columns (even if they're named differently) to what the system needs - Customer Orders, Inventory, Delivery Records.</a:t>
            </a:r>
          </a:p>
          <a:p>
            <a:pPr>
              <a:lnSpc>
                <a:spcPct val="112000"/>
              </a:lnSpc>
              <a:spcAft>
                <a:spcPts val="1400"/>
              </a:spcAft>
            </a:pPr>
            <a:r>
              <a:rPr sz="1550">
                <a:solidFill>
                  <a:srgbClr val="1D4ED8"/>
                </a:solidFill>
                <a:latin typeface="Calibri"/>
              </a:rPr>
              <a:t>●  </a:t>
            </a:r>
            <a:r>
              <a:rPr sz="1550" b="1">
                <a:solidFill>
                  <a:srgbClr val="131826"/>
                </a:solidFill>
                <a:latin typeface="Calibri"/>
              </a:rPr>
              <a:t>Read-only, always. </a:t>
            </a:r>
            <a:r>
              <a:rPr sz="1550">
                <a:solidFill>
                  <a:srgbClr val="4A5468"/>
                </a:solidFill>
                <a:latin typeface="Calibri"/>
              </a:rPr>
              <a:t>This page never modifies or moves your data - it only reads it.</a:t>
            </a:r>
          </a:p>
          <a:p>
            <a:pPr>
              <a:lnSpc>
                <a:spcPct val="112000"/>
              </a:lnSpc>
              <a:spcAft>
                <a:spcPts val="1400"/>
              </a:spcAft>
            </a:pPr>
            <a:r>
              <a:rPr sz="1550">
                <a:solidFill>
                  <a:srgbClr val="1D4ED8"/>
                </a:solidFill>
                <a:latin typeface="Calibri"/>
              </a:rPr>
              <a:t>●  </a:t>
            </a:r>
            <a:r>
              <a:rPr sz="1550" b="1">
                <a:solidFill>
                  <a:srgbClr val="131826"/>
                </a:solidFill>
                <a:latin typeface="Calibri"/>
              </a:rPr>
              <a:t>Safe previews. </a:t>
            </a:r>
            <a:r>
              <a:rPr sz="1550">
                <a:solidFill>
                  <a:srgbClr val="4A5468"/>
                </a:solidFill>
                <a:latin typeface="Calibri"/>
              </a:rPr>
              <a:t>Every preview is capped at 15 rows, so it never tries to load your whole database at once.</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data-console.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2 OF 5 · LIVE DATA</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The Executive Control Tower - one page, one glance</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One card per area. </a:t>
            </a:r>
            <a:r>
              <a:rPr sz="1550">
                <a:solidFill>
                  <a:srgbClr val="4A5468"/>
                </a:solidFill>
                <a:latin typeface="Calibri"/>
              </a:rPr>
              <a:t>Demand, stockout risk, suppliers, shipments, data quality - each with a one-line takeaway.</a:t>
            </a:r>
          </a:p>
          <a:p>
            <a:pPr>
              <a:lnSpc>
                <a:spcPct val="112000"/>
              </a:lnSpc>
              <a:spcAft>
                <a:spcPts val="1400"/>
              </a:spcAft>
            </a:pPr>
            <a:r>
              <a:rPr sz="1550">
                <a:solidFill>
                  <a:srgbClr val="1D4ED8"/>
                </a:solidFill>
                <a:latin typeface="Calibri"/>
              </a:rPr>
              <a:t>●  </a:t>
            </a:r>
            <a:r>
              <a:rPr sz="1550" b="1">
                <a:solidFill>
                  <a:srgbClr val="131826"/>
                </a:solidFill>
                <a:latin typeface="Calibri"/>
              </a:rPr>
              <a:t>Color says it all. </a:t>
            </a:r>
            <a:r>
              <a:rPr sz="1550">
                <a:solidFill>
                  <a:srgbClr val="4A5468"/>
                </a:solidFill>
                <a:latin typeface="Calibri"/>
              </a:rPr>
              <a:t>Green means fine, amber means worth a look, red means critical - no reading required.</a:t>
            </a:r>
          </a:p>
          <a:p>
            <a:pPr>
              <a:lnSpc>
                <a:spcPct val="112000"/>
              </a:lnSpc>
              <a:spcAft>
                <a:spcPts val="1400"/>
              </a:spcAft>
            </a:pPr>
            <a:r>
              <a:rPr sz="1550">
                <a:solidFill>
                  <a:srgbClr val="1D4ED8"/>
                </a:solidFill>
                <a:latin typeface="Calibri"/>
              </a:rPr>
              <a:t>●  </a:t>
            </a:r>
            <a:r>
              <a:rPr sz="1550" b="1">
                <a:solidFill>
                  <a:srgbClr val="131826"/>
                </a:solidFill>
                <a:latin typeface="Calibri"/>
              </a:rPr>
              <a:t>Rebuilt fresh each time. </a:t>
            </a:r>
            <a:r>
              <a:rPr sz="1550">
                <a:solidFill>
                  <a:srgbClr val="4A5468"/>
                </a:solidFill>
                <a:latin typeface="Calibri"/>
              </a:rPr>
              <a:t>Nothing to log into or configure - it's a snapshot of right now.</a:t>
            </a:r>
          </a:p>
          <a:p>
            <a:pPr>
              <a:lnSpc>
                <a:spcPct val="112000"/>
              </a:lnSpc>
              <a:spcAft>
                <a:spcPts val="1400"/>
              </a:spcAft>
            </a:pPr>
            <a:r>
              <a:rPr sz="1550">
                <a:solidFill>
                  <a:srgbClr val="1D4ED8"/>
                </a:solidFill>
                <a:latin typeface="Calibri"/>
              </a:rPr>
              <a:t>●  </a:t>
            </a:r>
            <a:r>
              <a:rPr sz="1550" b="1">
                <a:solidFill>
                  <a:srgbClr val="131826"/>
                </a:solidFill>
                <a:latin typeface="Calibri"/>
              </a:rPr>
              <a:t>Confidence, not just numbers. </a:t>
            </a:r>
            <a:r>
              <a:rPr sz="1550">
                <a:solidFill>
                  <a:srgbClr val="4A5468"/>
                </a:solidFill>
                <a:latin typeface="Calibri"/>
              </a:rPr>
              <a:t>A “Confidence by area” chart shows how much to trust each finding.</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dashboard-overview.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2 OF 5 · LIVE DATA (CONTINUED)</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Drill down when you need to - the full reasoning is one click away</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“Show details” on any card. </a:t>
            </a:r>
            <a:r>
              <a:rPr sz="1550">
                <a:solidFill>
                  <a:srgbClr val="4A5468"/>
                </a:solidFill>
                <a:latin typeface="Calibri"/>
              </a:rPr>
              <a:t>Expands to the full technical explanation behind the one-line takeaway.</a:t>
            </a:r>
          </a:p>
          <a:p>
            <a:pPr>
              <a:lnSpc>
                <a:spcPct val="112000"/>
              </a:lnSpc>
              <a:spcAft>
                <a:spcPts val="1400"/>
              </a:spcAft>
            </a:pPr>
            <a:r>
              <a:rPr sz="1550">
                <a:solidFill>
                  <a:srgbClr val="1D4ED8"/>
                </a:solidFill>
                <a:latin typeface="Calibri"/>
              </a:rPr>
              <a:t>●  </a:t>
            </a:r>
            <a:r>
              <a:rPr sz="1550" b="1">
                <a:solidFill>
                  <a:srgbClr val="131826"/>
                </a:solidFill>
                <a:latin typeface="Calibri"/>
              </a:rPr>
              <a:t>Important numbers are color-coded. </a:t>
            </a:r>
            <a:r>
              <a:rPr sz="1550">
                <a:solidFill>
                  <a:srgbClr val="4A5468"/>
                </a:solidFill>
                <a:latin typeface="Calibri"/>
              </a:rPr>
              <a:t>Confidence, risk score, and stockout probability change color based on their own value - not just a flat highlight.</a:t>
            </a:r>
          </a:p>
          <a:p>
            <a:pPr>
              <a:lnSpc>
                <a:spcPct val="112000"/>
              </a:lnSpc>
              <a:spcAft>
                <a:spcPts val="1400"/>
              </a:spcAft>
            </a:pPr>
            <a:r>
              <a:rPr sz="1550">
                <a:solidFill>
                  <a:srgbClr val="1D4ED8"/>
                </a:solidFill>
                <a:latin typeface="Calibri"/>
              </a:rPr>
              <a:t>●  </a:t>
            </a:r>
            <a:r>
              <a:rPr sz="1550" b="1">
                <a:solidFill>
                  <a:srgbClr val="131826"/>
                </a:solidFill>
                <a:latin typeface="Calibri"/>
              </a:rPr>
              <a:t>Same colors everywhere. </a:t>
            </a:r>
            <a:r>
              <a:rPr sz="1550">
                <a:solidFill>
                  <a:srgbClr val="4A5468"/>
                </a:solidFill>
                <a:latin typeface="Calibri"/>
              </a:rPr>
              <a:t>The same green/amber/red convention is used consistently across the dashboard, AI Assistant, and What-If Simulator.</a:t>
            </a:r>
          </a:p>
          <a:p>
            <a:pPr>
              <a:lnSpc>
                <a:spcPct val="112000"/>
              </a:lnSpc>
              <a:spcAft>
                <a:spcPts val="1400"/>
              </a:spcAft>
            </a:pPr>
            <a:r>
              <a:rPr sz="1550">
                <a:solidFill>
                  <a:srgbClr val="1D4ED8"/>
                </a:solidFill>
                <a:latin typeface="Calibri"/>
              </a:rPr>
              <a:t>●  </a:t>
            </a:r>
            <a:r>
              <a:rPr sz="1550" b="1">
                <a:solidFill>
                  <a:srgbClr val="131826"/>
                </a:solidFill>
                <a:latin typeface="Calibri"/>
              </a:rPr>
              <a:t>Approve / Reject on every finding. </a:t>
            </a:r>
            <a:r>
              <a:rPr sz="1550">
                <a:solidFill>
                  <a:srgbClr val="4A5468"/>
                </a:solidFill>
                <a:latin typeface="Calibri"/>
              </a:rPr>
              <a:t>A human always stays in the loop before anything is acted on.</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dashboard-details-expanded.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3 OF 5 · AI ASSISTANT</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Ask a question, get a straight answer</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Type a plain-English question. </a:t>
            </a:r>
            <a:r>
              <a:rPr sz="1550">
                <a:solidFill>
                  <a:srgbClr val="4A5468"/>
                </a:solidFill>
                <a:latin typeface="Calibri"/>
              </a:rPr>
              <a:t>“What's our stockout risk?” - no query language, no filters to configure.</a:t>
            </a:r>
          </a:p>
          <a:p>
            <a:pPr>
              <a:lnSpc>
                <a:spcPct val="112000"/>
              </a:lnSpc>
              <a:spcAft>
                <a:spcPts val="1400"/>
              </a:spcAft>
            </a:pPr>
            <a:r>
              <a:rPr sz="1550">
                <a:solidFill>
                  <a:srgbClr val="1D4ED8"/>
                </a:solidFill>
                <a:latin typeface="Calibri"/>
              </a:rPr>
              <a:t>●  </a:t>
            </a:r>
            <a:r>
              <a:rPr sz="1550" b="1">
                <a:solidFill>
                  <a:srgbClr val="131826"/>
                </a:solidFill>
                <a:latin typeface="Calibri"/>
              </a:rPr>
              <a:t>Example questions to get started. </a:t>
            </a:r>
            <a:r>
              <a:rPr sz="1550">
                <a:solidFill>
                  <a:srgbClr val="4A5468"/>
                </a:solidFill>
                <a:latin typeface="Calibri"/>
              </a:rPr>
              <a:t>Suggested chips for the four most common questions.</a:t>
            </a:r>
          </a:p>
          <a:p>
            <a:pPr>
              <a:lnSpc>
                <a:spcPct val="112000"/>
              </a:lnSpc>
              <a:spcAft>
                <a:spcPts val="1400"/>
              </a:spcAft>
            </a:pPr>
            <a:r>
              <a:rPr sz="1550">
                <a:solidFill>
                  <a:srgbClr val="1D4ED8"/>
                </a:solidFill>
                <a:latin typeface="Calibri"/>
              </a:rPr>
              <a:t>●  </a:t>
            </a:r>
            <a:r>
              <a:rPr sz="1550" b="1">
                <a:solidFill>
                  <a:srgbClr val="131826"/>
                </a:solidFill>
                <a:latin typeface="Calibri"/>
              </a:rPr>
              <a:t>Answers cite their own numbers. </a:t>
            </a:r>
            <a:r>
              <a:rPr sz="1550">
                <a:solidFill>
                  <a:srgbClr val="4A5468"/>
                </a:solidFill>
                <a:latin typeface="Calibri"/>
              </a:rPr>
              <a:t>Confidence, SKU-level detail, and a small chart - not just a paragraph of prose.</a:t>
            </a:r>
          </a:p>
          <a:p>
            <a:pPr>
              <a:lnSpc>
                <a:spcPct val="112000"/>
              </a:lnSpc>
              <a:spcAft>
                <a:spcPts val="1400"/>
              </a:spcAft>
            </a:pPr>
            <a:r>
              <a:rPr sz="1550">
                <a:solidFill>
                  <a:srgbClr val="1D4ED8"/>
                </a:solidFill>
                <a:latin typeface="Calibri"/>
              </a:rPr>
              <a:t>●  </a:t>
            </a:r>
            <a:r>
              <a:rPr sz="1550" b="1">
                <a:solidFill>
                  <a:srgbClr val="131826"/>
                </a:solidFill>
                <a:latin typeface="Calibri"/>
              </a:rPr>
              <a:t>Same honesty as the dashboard. </a:t>
            </a:r>
            <a:r>
              <a:rPr sz="1550">
                <a:solidFill>
                  <a:srgbClr val="4A5468"/>
                </a:solidFill>
                <a:latin typeface="Calibri"/>
              </a:rPr>
              <a:t>Every answer shows status, topic, and a confidence percentage.</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ai-assistant.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4 OF 5 · WHAT-IF SIMULATOR</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Test a decision before you make it real</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Start from today's real numbers. </a:t>
            </a:r>
            <a:r>
              <a:rPr sz="1550">
                <a:solidFill>
                  <a:srgbClr val="4A5468"/>
                </a:solidFill>
                <a:latin typeface="Calibri"/>
              </a:rPr>
              <a:t>Current stock, safety stock, demand rate, lead time - your actual baseline.</a:t>
            </a:r>
          </a:p>
          <a:p>
            <a:pPr>
              <a:lnSpc>
                <a:spcPct val="112000"/>
              </a:lnSpc>
              <a:spcAft>
                <a:spcPts val="1400"/>
              </a:spcAft>
            </a:pPr>
            <a:r>
              <a:rPr sz="1550">
                <a:solidFill>
                  <a:srgbClr val="1D4ED8"/>
                </a:solidFill>
                <a:latin typeface="Calibri"/>
              </a:rPr>
              <a:t>●  </a:t>
            </a:r>
            <a:r>
              <a:rPr sz="1550" b="1">
                <a:solidFill>
                  <a:srgbClr val="131826"/>
                </a:solidFill>
                <a:latin typeface="Calibri"/>
              </a:rPr>
              <a:t>Change one or more assumptions. </a:t>
            </a:r>
            <a:r>
              <a:rPr sz="1550">
                <a:solidFill>
                  <a:srgbClr val="4A5468"/>
                </a:solidFill>
                <a:latin typeface="Calibri"/>
              </a:rPr>
              <a:t>“What if demand jumps 20%?” “What if the lead time grows by 3 days?”</a:t>
            </a:r>
          </a:p>
          <a:p>
            <a:pPr>
              <a:lnSpc>
                <a:spcPct val="112000"/>
              </a:lnSpc>
              <a:spcAft>
                <a:spcPts val="1400"/>
              </a:spcAft>
            </a:pPr>
            <a:r>
              <a:rPr sz="1550">
                <a:solidFill>
                  <a:srgbClr val="1D4ED8"/>
                </a:solidFill>
                <a:latin typeface="Calibri"/>
              </a:rPr>
              <a:t>●  </a:t>
            </a:r>
            <a:r>
              <a:rPr sz="1550" b="1">
                <a:solidFill>
                  <a:srgbClr val="131826"/>
                </a:solidFill>
                <a:latin typeface="Calibri"/>
              </a:rPr>
              <a:t>Instant before/after comparison. </a:t>
            </a:r>
            <a:r>
              <a:rPr sz="1550">
                <a:solidFill>
                  <a:srgbClr val="4A5468"/>
                </a:solidFill>
                <a:latin typeface="Calibri"/>
              </a:rPr>
              <a:t>Baseline vs. projected risk, side by side, with a plain-English recommendation.</a:t>
            </a:r>
          </a:p>
          <a:p>
            <a:pPr>
              <a:lnSpc>
                <a:spcPct val="112000"/>
              </a:lnSpc>
              <a:spcAft>
                <a:spcPts val="1400"/>
              </a:spcAft>
            </a:pPr>
            <a:r>
              <a:rPr sz="1550">
                <a:solidFill>
                  <a:srgbClr val="1D4ED8"/>
                </a:solidFill>
                <a:latin typeface="Calibri"/>
              </a:rPr>
              <a:t>●  </a:t>
            </a:r>
            <a:r>
              <a:rPr sz="1550" b="1">
                <a:solidFill>
                  <a:srgbClr val="131826"/>
                </a:solidFill>
                <a:latin typeface="Calibri"/>
              </a:rPr>
              <a:t>Nothing is committed. </a:t>
            </a:r>
            <a:r>
              <a:rPr sz="1550">
                <a:solidFill>
                  <a:srgbClr val="4A5468"/>
                </a:solidFill>
                <a:latin typeface="Calibri"/>
              </a:rPr>
              <a:t>It's a sandbox - you can try five scenarios and act on none of them.</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what-if-simulator.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SCREEN 5 OF 5 · GLOSSARY</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Never wonder what a term means</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Every term, explained simply. </a:t>
            </a:r>
            <a:r>
              <a:rPr sz="1550">
                <a:solidFill>
                  <a:srgbClr val="4A5468"/>
                </a:solidFill>
                <a:latin typeface="Calibri"/>
              </a:rPr>
              <a:t>Confidence, risk score, z-score, safety stock, lead time - one card each, in plain language.</a:t>
            </a:r>
          </a:p>
          <a:p>
            <a:pPr>
              <a:lnSpc>
                <a:spcPct val="112000"/>
              </a:lnSpc>
              <a:spcAft>
                <a:spcPts val="1400"/>
              </a:spcAft>
            </a:pPr>
            <a:r>
              <a:rPr sz="1550">
                <a:solidFill>
                  <a:srgbClr val="1D4ED8"/>
                </a:solidFill>
                <a:latin typeface="Calibri"/>
              </a:rPr>
              <a:t>●  </a:t>
            </a:r>
            <a:r>
              <a:rPr sz="1550" b="1">
                <a:solidFill>
                  <a:srgbClr val="131826"/>
                </a:solidFill>
                <a:latin typeface="Calibri"/>
              </a:rPr>
              <a:t>A picture for every concept. </a:t>
            </a:r>
            <a:r>
              <a:rPr sz="1550">
                <a:solidFill>
                  <a:srgbClr val="4A5468"/>
                </a:solidFill>
                <a:latin typeface="Calibri"/>
              </a:rPr>
              <a:t>A slider or small chart you can try yourself, not just a wall of text.</a:t>
            </a:r>
          </a:p>
          <a:p>
            <a:pPr>
              <a:lnSpc>
                <a:spcPct val="112000"/>
              </a:lnSpc>
              <a:spcAft>
                <a:spcPts val="1400"/>
              </a:spcAft>
            </a:pPr>
            <a:r>
              <a:rPr sz="1550">
                <a:solidFill>
                  <a:srgbClr val="1D4ED8"/>
                </a:solidFill>
                <a:latin typeface="Calibri"/>
              </a:rPr>
              <a:t>●  </a:t>
            </a:r>
            <a:r>
              <a:rPr sz="1550" b="1">
                <a:solidFill>
                  <a:srgbClr val="131826"/>
                </a:solidFill>
                <a:latin typeface="Calibri"/>
              </a:rPr>
              <a:t>Same tooltip everywhere. </a:t>
            </a:r>
            <a:r>
              <a:rPr sz="1550">
                <a:solidFill>
                  <a:srgbClr val="4A5468"/>
                </a:solidFill>
                <a:latin typeface="Calibri"/>
              </a:rPr>
              <a:t>Hovering a term anywhere in the app shows the same one-sentence definition used here.</a:t>
            </a:r>
          </a:p>
          <a:p>
            <a:pPr>
              <a:lnSpc>
                <a:spcPct val="112000"/>
              </a:lnSpc>
              <a:spcAft>
                <a:spcPts val="1400"/>
              </a:spcAft>
            </a:pPr>
            <a:r>
              <a:rPr sz="1550">
                <a:solidFill>
                  <a:srgbClr val="1D4ED8"/>
                </a:solidFill>
                <a:latin typeface="Calibri"/>
              </a:rPr>
              <a:t>●  </a:t>
            </a:r>
            <a:r>
              <a:rPr sz="1550" b="1">
                <a:solidFill>
                  <a:srgbClr val="131826"/>
                </a:solidFill>
                <a:latin typeface="Calibri"/>
              </a:rPr>
              <a:t>Built for someone new. </a:t>
            </a:r>
            <a:r>
              <a:rPr sz="1550">
                <a:solidFill>
                  <a:srgbClr val="4A5468"/>
                </a:solidFill>
                <a:latin typeface="Calibri"/>
              </a:rPr>
              <a:t>No assumption that you already know supply chain or data science jargon.</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glossary.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FIRST-TIME EXPERIENCE</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New users get a 60-second orientation, automatically</a:t>
            </a:r>
          </a:p>
        </p:txBody>
      </p:sp>
      <p:sp>
        <p:nvSpPr>
          <p:cNvPr id="5" name="TextBox 4"/>
          <p:cNvSpPr txBox="1"/>
          <p:nvPr/>
        </p:nvSpPr>
        <p:spPr>
          <a:xfrm>
            <a:off x="548640" y="1691640"/>
            <a:ext cx="4160520" cy="3931920"/>
          </a:xfrm>
          <a:prstGeom prst="rect">
            <a:avLst/>
          </a:prstGeom>
          <a:noFill/>
        </p:spPr>
        <p:txBody>
          <a:bodyPr wrap="square" lIns="0" rIns="0" tIns="0" bIns="0">
            <a:spAutoFit/>
          </a:bodyPr>
          <a:lstStyle/>
          <a:p>
            <a:pPr>
              <a:lnSpc>
                <a:spcPct val="112000"/>
              </a:lnSpc>
              <a:spcAft>
                <a:spcPts val="1400"/>
              </a:spcAft>
            </a:pPr>
            <a:r>
              <a:rPr sz="1550">
                <a:solidFill>
                  <a:srgbClr val="1D4ED8"/>
                </a:solidFill>
                <a:latin typeface="Calibri"/>
              </a:rPr>
              <a:t>●  </a:t>
            </a:r>
            <a:r>
              <a:rPr sz="1550" b="1">
                <a:solidFill>
                  <a:srgbClr val="131826"/>
                </a:solidFill>
                <a:latin typeface="Calibri"/>
              </a:rPr>
              <a:t>Shows once, automatically. </a:t>
            </a:r>
            <a:r>
              <a:rPr sz="1550">
                <a:solidFill>
                  <a:srgbClr val="4A5468"/>
                </a:solidFill>
                <a:latin typeface="Calibri"/>
              </a:rPr>
              <a:t>The very first time anyone opens the app in their browser - on any of the 5 screens.</a:t>
            </a:r>
          </a:p>
          <a:p>
            <a:pPr>
              <a:lnSpc>
                <a:spcPct val="112000"/>
              </a:lnSpc>
              <a:spcAft>
                <a:spcPts val="1400"/>
              </a:spcAft>
            </a:pPr>
            <a:r>
              <a:rPr sz="1550">
                <a:solidFill>
                  <a:srgbClr val="1D4ED8"/>
                </a:solidFill>
                <a:latin typeface="Calibri"/>
              </a:rPr>
              <a:t>●  </a:t>
            </a:r>
            <a:r>
              <a:rPr sz="1550" b="1">
                <a:solidFill>
                  <a:srgbClr val="131826"/>
                </a:solidFill>
                <a:latin typeface="Calibri"/>
              </a:rPr>
              <a:t>Three steps, no reading required. </a:t>
            </a:r>
            <a:r>
              <a:rPr sz="1550">
                <a:solidFill>
                  <a:srgbClr val="4A5468"/>
                </a:solidFill>
                <a:latin typeface="Calibri"/>
              </a:rPr>
              <a:t>Connect your data → Run analysis → Ask questions, test scenarios.</a:t>
            </a:r>
          </a:p>
          <a:p>
            <a:pPr>
              <a:lnSpc>
                <a:spcPct val="112000"/>
              </a:lnSpc>
              <a:spcAft>
                <a:spcPts val="1400"/>
              </a:spcAft>
            </a:pPr>
            <a:r>
              <a:rPr sz="1550">
                <a:solidFill>
                  <a:srgbClr val="1D4ED8"/>
                </a:solidFill>
                <a:latin typeface="Calibri"/>
              </a:rPr>
              <a:t>●  </a:t>
            </a:r>
            <a:r>
              <a:rPr sz="1550" b="1">
                <a:solidFill>
                  <a:srgbClr val="131826"/>
                </a:solidFill>
                <a:latin typeface="Calibri"/>
              </a:rPr>
              <a:t>Never nags twice. </a:t>
            </a:r>
            <a:r>
              <a:rPr sz="1550">
                <a:solidFill>
                  <a:srgbClr val="4A5468"/>
                </a:solidFill>
                <a:latin typeface="Calibri"/>
              </a:rPr>
              <a:t>Remembered per browser, so a returning user just sees the app.</a:t>
            </a:r>
          </a:p>
        </p:txBody>
      </p:sp>
      <p:sp>
        <p:nvSpPr>
          <p:cNvPr id="6" name="Rectangle 5"/>
          <p:cNvSpPr/>
          <p:nvPr/>
        </p:nvSpPr>
        <p:spPr>
          <a:xfrm>
            <a:off x="5001768" y="1527048"/>
            <a:ext cx="6684264" cy="4232529"/>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0-first-visit-onboarding.png"/>
          <p:cNvPicPr>
            <a:picLocks noChangeAspect="1"/>
          </p:cNvPicPr>
          <p:nvPr/>
        </p:nvPicPr>
        <p:blipFill>
          <a:blip r:embed="rId2"/>
          <a:stretch>
            <a:fillRect/>
          </a:stretch>
        </p:blipFill>
        <p:spPr>
          <a:xfrm>
            <a:off x="5074920" y="1600200"/>
            <a:ext cx="6537960" cy="4086225"/>
          </a:xfrm>
          <a:prstGeom prst="rect">
            <a:avLst/>
          </a:prstGeom>
        </p:spPr>
      </p:pic>
      <p:sp>
        <p:nvSpPr>
          <p:cNvPr id="8" name="Rectangle 7"/>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0" name="TextBox 9"/>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UNDER THE HOOD (BRIEFLY)</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A team of specialists, not one big black box</a:t>
            </a:r>
          </a:p>
        </p:txBody>
      </p:sp>
      <p:sp>
        <p:nvSpPr>
          <p:cNvPr id="5" name="TextBox 4"/>
          <p:cNvSpPr txBox="1"/>
          <p:nvPr/>
        </p:nvSpPr>
        <p:spPr>
          <a:xfrm>
            <a:off x="548640" y="1691640"/>
            <a:ext cx="10789920" cy="457200"/>
          </a:xfrm>
          <a:prstGeom prst="rect">
            <a:avLst/>
          </a:prstGeom>
          <a:noFill/>
        </p:spPr>
        <p:txBody>
          <a:bodyPr wrap="square" anchor="t" lIns="0" rIns="0" tIns="0" bIns="0">
            <a:spAutoFit/>
          </a:bodyPr>
          <a:lstStyle/>
          <a:p>
            <a:pPr algn="l">
              <a:lnSpc>
                <a:spcPct val="100000"/>
              </a:lnSpc>
            </a:pPr>
            <a:r>
              <a:rPr sz="1600" b="0" i="0">
                <a:solidFill>
                  <a:srgbClr val="4A5468"/>
                </a:solidFill>
                <a:latin typeface="Calibri"/>
              </a:rPr>
              <a:t>Six specialist agents, each focused on one question:</a:t>
            </a:r>
          </a:p>
        </p:txBody>
      </p:sp>
      <p:sp>
        <p:nvSpPr>
          <p:cNvPr id="6" name="Rectangle 5"/>
          <p:cNvSpPr/>
          <p:nvPr/>
        </p:nvSpPr>
        <p:spPr>
          <a:xfrm>
            <a:off x="548640" y="2240280"/>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40280"/>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Demand Forecasting</a:t>
            </a:r>
          </a:p>
        </p:txBody>
      </p:sp>
      <p:sp>
        <p:nvSpPr>
          <p:cNvPr id="8" name="Rectangle 7"/>
          <p:cNvSpPr/>
          <p:nvPr/>
        </p:nvSpPr>
        <p:spPr>
          <a:xfrm>
            <a:off x="4206240" y="2240280"/>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240280"/>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Stockout Risk</a:t>
            </a:r>
          </a:p>
        </p:txBody>
      </p:sp>
      <p:sp>
        <p:nvSpPr>
          <p:cNvPr id="10" name="Rectangle 9"/>
          <p:cNvSpPr/>
          <p:nvPr/>
        </p:nvSpPr>
        <p:spPr>
          <a:xfrm>
            <a:off x="7863840" y="2240280"/>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240280"/>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Risk Detection</a:t>
            </a:r>
          </a:p>
        </p:txBody>
      </p:sp>
      <p:sp>
        <p:nvSpPr>
          <p:cNvPr id="12" name="Rectangle 11"/>
          <p:cNvSpPr/>
          <p:nvPr/>
        </p:nvSpPr>
        <p:spPr>
          <a:xfrm>
            <a:off x="548640" y="3310128"/>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310128"/>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Supplier Evaluation</a:t>
            </a:r>
          </a:p>
        </p:txBody>
      </p:sp>
      <p:sp>
        <p:nvSpPr>
          <p:cNvPr id="14" name="Rectangle 13"/>
          <p:cNvSpPr/>
          <p:nvPr/>
        </p:nvSpPr>
        <p:spPr>
          <a:xfrm>
            <a:off x="4206240" y="3310128"/>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310128"/>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Shipment Delay Analysis</a:t>
            </a:r>
          </a:p>
        </p:txBody>
      </p:sp>
      <p:sp>
        <p:nvSpPr>
          <p:cNvPr id="16" name="Rectangle 15"/>
          <p:cNvSpPr/>
          <p:nvPr/>
        </p:nvSpPr>
        <p:spPr>
          <a:xfrm>
            <a:off x="7863840" y="3310128"/>
            <a:ext cx="3429000" cy="86868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3310128"/>
            <a:ext cx="2971800" cy="868680"/>
          </a:xfrm>
          <a:prstGeom prst="rect">
            <a:avLst/>
          </a:prstGeom>
          <a:noFill/>
        </p:spPr>
        <p:txBody>
          <a:bodyPr wrap="square" anchor="ctr" lIns="0" rIns="0" tIns="0" bIns="0">
            <a:spAutoFit/>
          </a:bodyPr>
          <a:lstStyle/>
          <a:p>
            <a:pPr algn="l">
              <a:lnSpc>
                <a:spcPct val="100000"/>
              </a:lnSpc>
            </a:pPr>
            <a:r>
              <a:rPr sz="1550" b="1" i="0">
                <a:solidFill>
                  <a:srgbClr val="1638A6"/>
                </a:solidFill>
                <a:latin typeface="Calibri"/>
              </a:rPr>
              <a:t>Data Quality Monitoring</a:t>
            </a:r>
          </a:p>
        </p:txBody>
      </p:sp>
      <p:sp>
        <p:nvSpPr>
          <p:cNvPr id="18" name="TextBox 17"/>
          <p:cNvSpPr txBox="1"/>
          <p:nvPr/>
        </p:nvSpPr>
        <p:spPr>
          <a:xfrm>
            <a:off x="548640" y="4434840"/>
            <a:ext cx="10789920" cy="457200"/>
          </a:xfrm>
          <a:prstGeom prst="rect">
            <a:avLst/>
          </a:prstGeom>
          <a:noFill/>
        </p:spPr>
        <p:txBody>
          <a:bodyPr wrap="square" anchor="t" lIns="0" rIns="0" tIns="0" bIns="0">
            <a:spAutoFit/>
          </a:bodyPr>
          <a:lstStyle/>
          <a:p>
            <a:pPr algn="l">
              <a:lnSpc>
                <a:spcPct val="100000"/>
              </a:lnSpc>
            </a:pPr>
            <a:r>
              <a:rPr sz="1600" b="0" i="0">
                <a:solidFill>
                  <a:srgbClr val="4A5468"/>
                </a:solidFill>
                <a:latin typeface="Calibri"/>
              </a:rPr>
              <a:t>An Orchestrator Agent coordinates all six, cross-checks their answers, and flags disagreement:</a:t>
            </a:r>
          </a:p>
        </p:txBody>
      </p:sp>
      <p:sp>
        <p:nvSpPr>
          <p:cNvPr id="19" name="Rectangle 18"/>
          <p:cNvSpPr/>
          <p:nvPr/>
        </p:nvSpPr>
        <p:spPr>
          <a:xfrm>
            <a:off x="548640" y="4937760"/>
            <a:ext cx="10789920" cy="1051560"/>
          </a:xfrm>
          <a:prstGeom prst="rect">
            <a:avLst/>
          </a:prstGeom>
          <a:solidFill>
            <a:srgbClr val="FFFFFF"/>
          </a:solidFill>
          <a:ln w="12700">
            <a:solidFill>
              <a:srgbClr val="E1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38928"/>
            <a:ext cx="10149840" cy="685800"/>
          </a:xfrm>
          <a:prstGeom prst="rect">
            <a:avLst/>
          </a:prstGeom>
          <a:noFill/>
        </p:spPr>
        <p:txBody>
          <a:bodyPr wrap="square" anchor="t" lIns="0" rIns="0" tIns="0" bIns="0">
            <a:spAutoFit/>
          </a:bodyPr>
          <a:lstStyle/>
          <a:p>
            <a:pPr algn="l">
              <a:lnSpc>
                <a:spcPct val="120000"/>
              </a:lnSpc>
            </a:pPr>
            <a:r>
              <a:rPr sz="1450" b="0" i="1">
                <a:solidFill>
                  <a:srgbClr val="4A5468"/>
                </a:solidFill>
                <a:latin typeface="Calibri"/>
              </a:rPr>
              <a:t>If two agents look at the same data and reach very different conclusions, confidence goes down automatically - the system tells you it's unsure rather than quietly picking one answer.</a:t>
            </a:r>
          </a:p>
        </p:txBody>
      </p:sp>
      <p:sp>
        <p:nvSpPr>
          <p:cNvPr id="21" name="Rectangle 20"/>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23" name="TextBox 22"/>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320040"/>
          </a:xfrm>
          <a:prstGeom prst="rect">
            <a:avLst/>
          </a:prstGeom>
          <a:noFill/>
        </p:spPr>
        <p:txBody>
          <a:bodyPr wrap="square" anchor="t" lIns="0" rIns="0" tIns="0" bIns="0">
            <a:spAutoFit/>
          </a:bodyPr>
          <a:lstStyle/>
          <a:p>
            <a:pPr algn="l">
              <a:lnSpc>
                <a:spcPct val="100000"/>
              </a:lnSpc>
            </a:pPr>
            <a:r>
              <a:rPr sz="1300" b="1" i="0">
                <a:solidFill>
                  <a:srgbClr val="1D4ED8"/>
                </a:solidFill>
                <a:latin typeface="Calibri"/>
              </a:rPr>
              <a:t>WHERE THINGS STAND TODAY</a:t>
            </a:r>
          </a:p>
        </p:txBody>
      </p:sp>
      <p:sp>
        <p:nvSpPr>
          <p:cNvPr id="4" name="TextBox 3"/>
          <p:cNvSpPr txBox="1"/>
          <p:nvPr/>
        </p:nvSpPr>
        <p:spPr>
          <a:xfrm>
            <a:off x="502920" y="685800"/>
            <a:ext cx="10789920" cy="640080"/>
          </a:xfrm>
          <a:prstGeom prst="rect">
            <a:avLst/>
          </a:prstGeom>
          <a:noFill/>
        </p:spPr>
        <p:txBody>
          <a:bodyPr wrap="square" anchor="t" lIns="0" rIns="0" tIns="0" bIns="0">
            <a:spAutoFit/>
          </a:bodyPr>
          <a:lstStyle/>
          <a:p>
            <a:pPr algn="l">
              <a:lnSpc>
                <a:spcPct val="100000"/>
              </a:lnSpc>
            </a:pPr>
            <a:r>
              <a:rPr sz="3000" b="1" i="0">
                <a:solidFill>
                  <a:srgbClr val="131826"/>
                </a:solidFill>
                <a:latin typeface="Calibri"/>
              </a:rPr>
              <a:t>A working local tool, actively growing</a:t>
            </a:r>
          </a:p>
        </p:txBody>
      </p:sp>
      <p:sp>
        <p:nvSpPr>
          <p:cNvPr id="5" name="TextBox 4"/>
          <p:cNvSpPr txBox="1"/>
          <p:nvPr/>
        </p:nvSpPr>
        <p:spPr>
          <a:xfrm>
            <a:off x="548640" y="1691640"/>
            <a:ext cx="5760720" cy="4206240"/>
          </a:xfrm>
          <a:prstGeom prst="rect">
            <a:avLst/>
          </a:prstGeom>
          <a:noFill/>
        </p:spPr>
        <p:txBody>
          <a:bodyPr wrap="square" lIns="0" rIns="0" tIns="0" bIns="0">
            <a:spAutoFit/>
          </a:bodyPr>
          <a:lstStyle/>
          <a:p>
            <a:pPr>
              <a:lnSpc>
                <a:spcPct val="112000"/>
              </a:lnSpc>
              <a:spcAft>
                <a:spcPts val="1600"/>
              </a:spcAft>
            </a:pPr>
            <a:r>
              <a:rPr sz="1600">
                <a:solidFill>
                  <a:srgbClr val="1D4ED8"/>
                </a:solidFill>
                <a:latin typeface="Calibri"/>
              </a:rPr>
              <a:t>●  </a:t>
            </a:r>
            <a:r>
              <a:rPr sz="1600" b="1">
                <a:solidFill>
                  <a:srgbClr val="131826"/>
                </a:solidFill>
                <a:latin typeface="Calibri"/>
              </a:rPr>
              <a:t>All 5 screens work end-to-end today. </a:t>
            </a:r>
            <a:r>
              <a:rPr sz="1600">
                <a:solidFill>
                  <a:srgbClr val="4A5468"/>
                </a:solidFill>
                <a:latin typeface="Calibri"/>
              </a:rPr>
              <a:t>Data Console, Live Dashboard, AI Assistant, What-If Simulator, and Glossary - everything in this deck is real, running software, not a mockup.</a:t>
            </a:r>
          </a:p>
          <a:p>
            <a:pPr>
              <a:lnSpc>
                <a:spcPct val="112000"/>
              </a:lnSpc>
              <a:spcAft>
                <a:spcPts val="1600"/>
              </a:spcAft>
            </a:pPr>
            <a:r>
              <a:rPr sz="1600">
                <a:solidFill>
                  <a:srgbClr val="1D4ED8"/>
                </a:solidFill>
                <a:latin typeface="Calibri"/>
              </a:rPr>
              <a:t>●  </a:t>
            </a:r>
            <a:r>
              <a:rPr sz="1600" b="1">
                <a:solidFill>
                  <a:srgbClr val="131826"/>
                </a:solidFill>
                <a:latin typeface="Calibri"/>
              </a:rPr>
              <a:t>Tested continuously. </a:t>
            </a:r>
            <a:r>
              <a:rPr sz="1600">
                <a:solidFill>
                  <a:srgbClr val="4A5468"/>
                </a:solidFill>
                <a:latin typeface="Calibri"/>
              </a:rPr>
              <a:t>1,107 automated tests currently pass across the codebase; every change ships with new tests, not just code.</a:t>
            </a:r>
          </a:p>
          <a:p>
            <a:pPr>
              <a:lnSpc>
                <a:spcPct val="112000"/>
              </a:lnSpc>
              <a:spcAft>
                <a:spcPts val="1600"/>
              </a:spcAft>
            </a:pPr>
            <a:r>
              <a:rPr sz="1600">
                <a:solidFill>
                  <a:srgbClr val="1D4ED8"/>
                </a:solidFill>
                <a:latin typeface="Calibri"/>
              </a:rPr>
              <a:t>●  </a:t>
            </a:r>
            <a:r>
              <a:rPr sz="1600" b="1">
                <a:solidFill>
                  <a:srgbClr val="131826"/>
                </a:solidFill>
                <a:latin typeface="Calibri"/>
              </a:rPr>
              <a:t>Runs locally right now. </a:t>
            </a:r>
            <a:r>
              <a:rPr sz="1600">
                <a:solidFill>
                  <a:srgbClr val="4A5468"/>
                </a:solidFill>
                <a:latin typeface="Calibri"/>
              </a:rPr>
              <a:t>One command starts the whole app on your own machine - no cloud deployment yet.</a:t>
            </a:r>
          </a:p>
          <a:p>
            <a:pPr>
              <a:lnSpc>
                <a:spcPct val="112000"/>
              </a:lnSpc>
              <a:spcAft>
                <a:spcPts val="1600"/>
              </a:spcAft>
            </a:pPr>
            <a:r>
              <a:rPr sz="1600">
                <a:solidFill>
                  <a:srgbClr val="1D4ED8"/>
                </a:solidFill>
                <a:latin typeface="Calibri"/>
              </a:rPr>
              <a:t>●  </a:t>
            </a:r>
            <a:r>
              <a:rPr sz="1600" b="1">
                <a:solidFill>
                  <a:srgbClr val="131826"/>
                </a:solidFill>
                <a:latin typeface="Calibri"/>
              </a:rPr>
              <a:t>Built the disciplined way. </a:t>
            </a:r>
            <a:r>
              <a:rPr sz="1600">
                <a:solidFill>
                  <a:srgbClr val="4A5468"/>
                </a:solidFill>
                <a:latin typeface="Calibri"/>
              </a:rPr>
              <a:t>Every screen was built, then deliberately broken to find edge cases, then hardened - not just built once and shipped.</a:t>
            </a:r>
          </a:p>
        </p:txBody>
      </p:sp>
      <p:sp>
        <p:nvSpPr>
          <p:cNvPr id="6" name="Rectangle 5"/>
          <p:cNvSpPr/>
          <p:nvPr/>
        </p:nvSpPr>
        <p:spPr>
          <a:xfrm>
            <a:off x="6675120" y="1691640"/>
            <a:ext cx="4937760" cy="4206240"/>
          </a:xfrm>
          <a:prstGeom prst="rect">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965960"/>
            <a:ext cx="4297680" cy="365760"/>
          </a:xfrm>
          <a:prstGeom prst="rect">
            <a:avLst/>
          </a:prstGeom>
          <a:noFill/>
        </p:spPr>
        <p:txBody>
          <a:bodyPr wrap="square" anchor="t" lIns="0" rIns="0" tIns="0" bIns="0">
            <a:spAutoFit/>
          </a:bodyPr>
          <a:lstStyle/>
          <a:p>
            <a:pPr algn="l">
              <a:lnSpc>
                <a:spcPct val="100000"/>
              </a:lnSpc>
            </a:pPr>
            <a:r>
              <a:rPr sz="1300" b="1" i="0">
                <a:solidFill>
                  <a:srgbClr val="1638A6"/>
                </a:solidFill>
                <a:latin typeface="Calibri"/>
              </a:rPr>
              <a:t>WHAT'S NEXT</a:t>
            </a:r>
          </a:p>
        </p:txBody>
      </p:sp>
      <p:sp>
        <p:nvSpPr>
          <p:cNvPr id="8" name="TextBox 7"/>
          <p:cNvSpPr txBox="1"/>
          <p:nvPr/>
        </p:nvSpPr>
        <p:spPr>
          <a:xfrm>
            <a:off x="6995160" y="2423160"/>
            <a:ext cx="4297680" cy="3291840"/>
          </a:xfrm>
          <a:prstGeom prst="rect">
            <a:avLst/>
          </a:prstGeom>
          <a:noFill/>
        </p:spPr>
        <p:txBody>
          <a:bodyPr wrap="square" lIns="0" rIns="0" tIns="0" bIns="0">
            <a:spAutoFit/>
          </a:bodyPr>
          <a:lstStyle/>
          <a:p>
            <a:pPr>
              <a:lnSpc>
                <a:spcPct val="112000"/>
              </a:lnSpc>
              <a:spcAft>
                <a:spcPts val="1400"/>
              </a:spcAft>
            </a:pPr>
            <a:r>
              <a:rPr sz="1500">
                <a:solidFill>
                  <a:srgbClr val="1638A6"/>
                </a:solidFill>
                <a:latin typeface="Calibri"/>
              </a:rPr>
              <a:t>●  </a:t>
            </a:r>
            <a:r>
              <a:rPr sz="1500">
                <a:solidFill>
                  <a:srgbClr val="4A5468"/>
                </a:solidFill>
                <a:latin typeface="Calibri"/>
              </a:rPr>
              <a:t>Deploy so the team can access it without running it locally</a:t>
            </a:r>
          </a:p>
          <a:p>
            <a:pPr>
              <a:lnSpc>
                <a:spcPct val="112000"/>
              </a:lnSpc>
              <a:spcAft>
                <a:spcPts val="1400"/>
              </a:spcAft>
            </a:pPr>
            <a:r>
              <a:rPr sz="1500">
                <a:solidFill>
                  <a:srgbClr val="1638A6"/>
                </a:solidFill>
                <a:latin typeface="Calibri"/>
              </a:rPr>
              <a:t>●  </a:t>
            </a:r>
            <a:r>
              <a:rPr sz="1500">
                <a:solidFill>
                  <a:srgbClr val="4A5468"/>
                </a:solidFill>
                <a:latin typeface="Calibri"/>
              </a:rPr>
              <a:t>Connect it to a real, live data source</a:t>
            </a:r>
          </a:p>
          <a:p>
            <a:pPr>
              <a:lnSpc>
                <a:spcPct val="112000"/>
              </a:lnSpc>
              <a:spcAft>
                <a:spcPts val="1400"/>
              </a:spcAft>
            </a:pPr>
            <a:r>
              <a:rPr sz="1500">
                <a:solidFill>
                  <a:srgbClr val="1638A6"/>
                </a:solidFill>
                <a:latin typeface="Calibri"/>
              </a:rPr>
              <a:t>●  </a:t>
            </a:r>
            <a:r>
              <a:rPr sz="1500">
                <a:solidFill>
                  <a:srgbClr val="4A5468"/>
                </a:solidFill>
                <a:latin typeface="Calibri"/>
              </a:rPr>
              <a:t>Expand the AI Assistant's question coverage</a:t>
            </a:r>
          </a:p>
          <a:p>
            <a:pPr>
              <a:lnSpc>
                <a:spcPct val="112000"/>
              </a:lnSpc>
              <a:spcAft>
                <a:spcPts val="1400"/>
              </a:spcAft>
            </a:pPr>
            <a:r>
              <a:rPr sz="1500">
                <a:solidFill>
                  <a:srgbClr val="1638A6"/>
                </a:solidFill>
                <a:latin typeface="Calibri"/>
              </a:rPr>
              <a:t>●  </a:t>
            </a:r>
            <a:r>
              <a:rPr sz="1500">
                <a:solidFill>
                  <a:srgbClr val="4A5468"/>
                </a:solidFill>
                <a:latin typeface="Calibri"/>
              </a:rPr>
              <a:t>Gather feedback from real day-to-day use</a:t>
            </a:r>
          </a:p>
        </p:txBody>
      </p:sp>
      <p:sp>
        <p:nvSpPr>
          <p:cNvPr id="9" name="Rectangle 8"/>
          <p:cNvSpPr/>
          <p:nvPr/>
        </p:nvSpPr>
        <p:spPr>
          <a:xfrm>
            <a:off x="0" y="6510528"/>
            <a:ext cx="1219169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28816"/>
            <a:ext cx="5486400" cy="274320"/>
          </a:xfrm>
          <a:prstGeom prst="rect">
            <a:avLst/>
          </a:prstGeom>
          <a:noFill/>
        </p:spPr>
        <p:txBody>
          <a:bodyPr wrap="square" anchor="t" lIns="0" rIns="0" tIns="0" bIns="0">
            <a:spAutoFit/>
          </a:bodyPr>
          <a:lstStyle/>
          <a:p>
            <a:pPr algn="l">
              <a:lnSpc>
                <a:spcPct val="100000"/>
              </a:lnSpc>
            </a:pPr>
            <a:r>
              <a:rPr sz="1000" b="1" i="0">
                <a:solidFill>
                  <a:srgbClr val="4A5468"/>
                </a:solidFill>
                <a:latin typeface="Calibri"/>
              </a:rPr>
              <a:t>SupplyMind AI</a:t>
            </a:r>
          </a:p>
        </p:txBody>
      </p:sp>
      <p:sp>
        <p:nvSpPr>
          <p:cNvPr id="11" name="TextBox 10"/>
          <p:cNvSpPr txBox="1"/>
          <p:nvPr/>
        </p:nvSpPr>
        <p:spPr>
          <a:xfrm>
            <a:off x="8686800" y="6528816"/>
            <a:ext cx="3044952" cy="274320"/>
          </a:xfrm>
          <a:prstGeom prst="rect">
            <a:avLst/>
          </a:prstGeom>
          <a:noFill/>
        </p:spPr>
        <p:txBody>
          <a:bodyPr wrap="square" anchor="t" lIns="0" rIns="0" tIns="0" bIns="0">
            <a:spAutoFit/>
          </a:bodyPr>
          <a:lstStyle/>
          <a:p>
            <a:pPr algn="r">
              <a:lnSpc>
                <a:spcPct val="100000"/>
              </a:lnSpc>
            </a:pPr>
            <a:r>
              <a:rPr sz="1000" b="0" i="0">
                <a:solidFill>
                  <a:srgbClr val="4A546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31826"/>
        </a:solidFill>
        <a:effectLst/>
      </p:bgPr>
    </p:bg>
    <p:spTree>
      <p:nvGrpSpPr>
        <p:cNvPr id="1" name=""/>
        <p:cNvGrpSpPr/>
        <p:nvPr/>
      </p:nvGrpSpPr>
      <p:grpSpPr/>
      <p:sp>
        <p:nvSpPr>
          <p:cNvPr id="2" name="Rectangle 1"/>
          <p:cNvSpPr/>
          <p:nvPr/>
        </p:nvSpPr>
        <p:spPr>
          <a:xfrm>
            <a:off x="0" y="4434840"/>
            <a:ext cx="12191695"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anchor="t" lIns="0" rIns="0" tIns="0" bIns="0">
            <a:spAutoFit/>
          </a:bodyPr>
          <a:lstStyle/>
          <a:p>
            <a:pPr algn="l">
              <a:lnSpc>
                <a:spcPct val="100000"/>
              </a:lnSpc>
            </a:pPr>
            <a:r>
              <a:rPr sz="1800" b="1" i="0">
                <a:solidFill>
                  <a:srgbClr val="9DB6F7"/>
                </a:solidFill>
                <a:latin typeface="Calibri"/>
              </a:rPr>
              <a:t>QUESTIONS?</a:t>
            </a:r>
          </a:p>
        </p:txBody>
      </p:sp>
      <p:sp>
        <p:nvSpPr>
          <p:cNvPr id="4" name="TextBox 3"/>
          <p:cNvSpPr txBox="1"/>
          <p:nvPr/>
        </p:nvSpPr>
        <p:spPr>
          <a:xfrm>
            <a:off x="822960" y="2743200"/>
            <a:ext cx="10515600" cy="1005840"/>
          </a:xfrm>
          <a:prstGeom prst="rect">
            <a:avLst/>
          </a:prstGeom>
          <a:noFill/>
        </p:spPr>
        <p:txBody>
          <a:bodyPr wrap="square" anchor="t" lIns="0" rIns="0" tIns="0" bIns="0">
            <a:spAutoFit/>
          </a:bodyPr>
          <a:lstStyle/>
          <a:p>
            <a:pPr algn="l">
              <a:lnSpc>
                <a:spcPct val="110000"/>
              </a:lnSpc>
            </a:pPr>
            <a:r>
              <a:rPr sz="3600" b="1" i="0">
                <a:solidFill>
                  <a:srgbClr val="FFFFFF"/>
                </a:solidFill>
                <a:latin typeface="Calibri"/>
              </a:rPr>
              <a:t>Let's talk about what this could</a:t>
            </a:r>
          </a:p>
          <a:p>
            <a:pPr algn="l">
              <a:lnSpc>
                <a:spcPct val="110000"/>
              </a:lnSpc>
            </a:pPr>
            <a:r>
              <a:rPr sz="3600" b="1" i="0">
                <a:solidFill>
                  <a:srgbClr val="FFFFFF"/>
                </a:solidFill>
                <a:latin typeface="Calibri"/>
              </a:rPr>
              <a:t>do for your team.</a:t>
            </a:r>
          </a:p>
        </p:txBody>
      </p:sp>
      <p:sp>
        <p:nvSpPr>
          <p:cNvPr id="5" name="TextBox 4"/>
          <p:cNvSpPr txBox="1"/>
          <p:nvPr/>
        </p:nvSpPr>
        <p:spPr>
          <a:xfrm>
            <a:off x="822960" y="4206240"/>
            <a:ext cx="10515600" cy="457200"/>
          </a:xfrm>
          <a:prstGeom prst="rect">
            <a:avLst/>
          </a:prstGeom>
          <a:noFill/>
        </p:spPr>
        <p:txBody>
          <a:bodyPr wrap="square" anchor="t" lIns="0" rIns="0" tIns="0" bIns="0">
            <a:spAutoFit/>
          </a:bodyPr>
          <a:lstStyle/>
          <a:p>
            <a:pPr algn="l">
              <a:lnSpc>
                <a:spcPct val="100000"/>
              </a:lnSpc>
            </a:pPr>
            <a:r>
              <a:rPr sz="1500" b="0" i="0">
                <a:solidFill>
                  <a:srgbClr val="C3CCE0"/>
                </a:solidFill>
                <a:latin typeface="Calibri"/>
              </a:rPr>
              <a:t>SupplyMind AI — an AI co-pilot for your supply chain</a:t>
            </a:r>
          </a:p>
        </p:txBody>
      </p:sp>
      <p:sp>
        <p:nvSpPr>
          <p:cNvPr id="6" name="TextBox 5"/>
          <p:cNvSpPr txBox="1"/>
          <p:nvPr/>
        </p:nvSpPr>
        <p:spPr>
          <a:xfrm>
            <a:off x="822960" y="6263640"/>
            <a:ext cx="7315200" cy="365760"/>
          </a:xfrm>
          <a:prstGeom prst="rect">
            <a:avLst/>
          </a:prstGeom>
          <a:noFill/>
        </p:spPr>
        <p:txBody>
          <a:bodyPr wrap="square" anchor="t" lIns="0" rIns="0" tIns="0" bIns="0">
            <a:spAutoFit/>
          </a:bodyPr>
          <a:lstStyle/>
          <a:p>
            <a:pPr algn="l">
              <a:lnSpc>
                <a:spcPct val="100000"/>
              </a:lnSpc>
            </a:pPr>
            <a:r>
              <a:rPr sz="1200" b="0" i="0">
                <a:solidFill>
                  <a:srgbClr val="8A94B0"/>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